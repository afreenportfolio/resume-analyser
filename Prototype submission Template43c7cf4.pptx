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4" r:id="rId5"/>
    <p:sldId id="263" r:id="rId6"/>
    <p:sldId id="260" r:id="rId7"/>
    <p:sldId id="265" r:id="rId8"/>
    <p:sldId id="261" r:id="rId9"/>
    <p:sldId id="262" r:id="rId10"/>
    <p:sldId id="266" r:id="rId11"/>
    <p:sldId id="267" r:id="rId12"/>
  </p:sldIdLst>
  <p:sldSz cx="9144000" cy="5143500" type="screen16x9"/>
  <p:notesSz cx="6858000" cy="9144000"/>
  <p:embeddedFontLst>
    <p:embeddedFont>
      <p:font typeface="Calibri" pitchFamily="34" charset="0"/>
      <p:regular r:id="rId14"/>
      <p:bold r:id="rId15"/>
      <p:italic r:id="rId16"/>
      <p:boldItalic r:id="rId17"/>
    </p:embeddedFont>
    <p:embeddedFont>
      <p:font typeface="Roboto Slab" charset="0"/>
      <p:regular r:id="rId18"/>
      <p:bold r:id="rId19"/>
    </p:embeddedFont>
    <p:embeddedFont>
      <p:font typeface="Roboto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hnhT3gIw6FOvW5xyCHR27w99wa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52" autoAdjust="0"/>
  </p:normalViewPr>
  <p:slideViewPr>
    <p:cSldViewPr snapToGrid="0">
      <p:cViewPr>
        <p:scale>
          <a:sx n="63" d="100"/>
          <a:sy n="63" d="100"/>
        </p:scale>
        <p:origin x="-2002" y="-81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0760955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6" name="Google Shape;7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" name="Google Shape;9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3372e3e9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g83372e3e9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3372e3e9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83372e3e9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3372e3e9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83372e3e9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83372e3e9c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6" name="Google Shape;106;g83372e3e9c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g83372e3e9c_1_3138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Google Shape;11;g83372e3e9c_1_3138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2" name="Google Shape;12;g83372e3e9c_1_31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83372e3e9c_1_3174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g83372e3e9c_1_3174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g83372e3e9c_1_3174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" name="Google Shape;17;g83372e3e9c_1_317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83372e3e9c_1_317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83372e3e9c_1_3131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22" name="Google Shape;22;g83372e3e9c_1_3131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23" name="Google Shape;23;g83372e3e9c_1_3131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g83372e3e9c_1_3131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25" name="Google Shape;25;g83372e3e9c_1_3131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26" name="Google Shape;26;g83372e3e9c_1_31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g83372e3e9c_1_3142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9" name="Google Shape;29;g83372e3e9c_1_3142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83372e3e9c_1_3142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1" name="Google Shape;31;g83372e3e9c_1_31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Google Shape;33;g83372e3e9c_1_3147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4" name="Google Shape;34;g83372e3e9c_1_314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83372e3e9c_1_3147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83372e3e9c_1_3147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83372e3e9c_1_31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83372e3e9c_1_3153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83372e3e9c_1_315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g83372e3e9c_1_3156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" name="Google Shape;43;g83372e3e9c_1_3156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g83372e3e9c_1_3156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g83372e3e9c_1_315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83372e3e9c_1_3161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g83372e3e9c_1_31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83372e3e9c_1_3164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" name="Google Shape;51;g83372e3e9c_1_3164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2" name="Google Shape;52;g83372e3e9c_1_3164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53" name="Google Shape;53;g83372e3e9c_1_3164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54" name="Google Shape;54;g83372e3e9c_1_3164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g83372e3e9c_1_316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83372e3e9c_1_3171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8" name="Google Shape;58;g83372e3e9c_1_317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83372e3e9c_1_312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 b="0" i="0" u="none" strike="noStrike" cap="none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g83372e3e9c_1_312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g83372e3e9c_1_31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gent.ai/agent/resume-alig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github.com/afreenportfolio/Resume-Analyser/blob/main/resume_analyzer_video_demo.mp4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"/>
          <p:cNvSpPr txBox="1">
            <a:spLocks noGrp="1"/>
          </p:cNvSpPr>
          <p:nvPr>
            <p:ph type="body" idx="4294967295"/>
          </p:nvPr>
        </p:nvSpPr>
        <p:spPr>
          <a:xfrm>
            <a:off x="1377450" y="462800"/>
            <a:ext cx="6389100" cy="6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3000" dirty="0"/>
              <a:t>Prototype Submission Phase</a:t>
            </a:r>
            <a:endParaRPr sz="3000" dirty="0"/>
          </a:p>
        </p:txBody>
      </p:sp>
      <p:pic>
        <p:nvPicPr>
          <p:cNvPr id="64" name="Google Shape;64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"/>
          <p:cNvSpPr txBox="1">
            <a:spLocks noGrp="1"/>
          </p:cNvSpPr>
          <p:nvPr>
            <p:ph type="title"/>
          </p:nvPr>
        </p:nvSpPr>
        <p:spPr>
          <a:xfrm>
            <a:off x="0" y="710400"/>
            <a:ext cx="71488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000" dirty="0">
                <a:solidFill>
                  <a:srgbClr val="0098FF"/>
                </a:solidFill>
              </a:rPr>
              <a:t>TEAM NAME and MEMBER </a:t>
            </a:r>
            <a:r>
              <a:rPr lang="en" sz="3000" dirty="0" smtClean="0">
                <a:solidFill>
                  <a:srgbClr val="0098FF"/>
                </a:solidFill>
              </a:rPr>
              <a:t>DETAILS:</a:t>
            </a:r>
            <a:endParaRPr sz="3000" dirty="0">
              <a:solidFill>
                <a:srgbClr val="0098FF"/>
              </a:solidFill>
            </a:endParaRPr>
          </a:p>
        </p:txBody>
      </p:sp>
      <p:sp>
        <p:nvSpPr>
          <p:cNvPr id="70" name="Google Shape;70;p2"/>
          <p:cNvSpPr txBox="1">
            <a:spLocks noGrp="1"/>
          </p:cNvSpPr>
          <p:nvPr>
            <p:ph type="body" idx="1"/>
          </p:nvPr>
        </p:nvSpPr>
        <p:spPr>
          <a:xfrm>
            <a:off x="0" y="1283800"/>
            <a:ext cx="2930650" cy="9059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buSzPts val="1800"/>
              <a:buNone/>
            </a:pPr>
            <a:r>
              <a:rPr lang="en-IN" sz="2400" i="1" dirty="0" smtClean="0"/>
              <a:t>Resume Analyzer</a:t>
            </a:r>
          </a:p>
          <a:p>
            <a:pPr marL="0" lvl="0" indent="0" algn="l" rtl="0">
              <a:lnSpc>
                <a:spcPct val="114000"/>
              </a:lnSpc>
              <a:spcBef>
                <a:spcPts val="0"/>
              </a:spcBef>
              <a:buSzPts val="1800"/>
              <a:buNone/>
            </a:pPr>
            <a:r>
              <a:rPr lang="en-IN" sz="2400" i="1" dirty="0" smtClean="0"/>
              <a:t>Afreen Sudheer</a:t>
            </a:r>
            <a:endParaRPr sz="2400" i="1" dirty="0"/>
          </a:p>
        </p:txBody>
      </p:sp>
      <p:sp>
        <p:nvSpPr>
          <p:cNvPr id="71" name="Google Shape;71;p2"/>
          <p:cNvSpPr txBox="1">
            <a:spLocks noGrp="1"/>
          </p:cNvSpPr>
          <p:nvPr>
            <p:ph type="body" idx="1"/>
          </p:nvPr>
        </p:nvSpPr>
        <p:spPr>
          <a:xfrm>
            <a:off x="0" y="3339718"/>
            <a:ext cx="1656800" cy="59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3000" dirty="0">
                <a:solidFill>
                  <a:srgbClr val="0098FF"/>
                </a:solidFill>
              </a:rPr>
              <a:t>THEME:</a:t>
            </a:r>
            <a:endParaRPr sz="3000" dirty="0">
              <a:solidFill>
                <a:srgbClr val="0098FF"/>
              </a:solidFill>
            </a:endParaRPr>
          </a:p>
        </p:txBody>
      </p:sp>
      <p:sp>
        <p:nvSpPr>
          <p:cNvPr id="72" name="Google Shape;72;p2"/>
          <p:cNvSpPr txBox="1">
            <a:spLocks noGrp="1"/>
          </p:cNvSpPr>
          <p:nvPr>
            <p:ph type="body" idx="1"/>
          </p:nvPr>
        </p:nvSpPr>
        <p:spPr>
          <a:xfrm>
            <a:off x="1387184" y="3397063"/>
            <a:ext cx="3026400" cy="62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1600"/>
              </a:spcAft>
              <a:buSzPts val="1800"/>
              <a:buNone/>
            </a:pPr>
            <a:r>
              <a:rPr lang="en" sz="2400" i="1" dirty="0">
                <a:solidFill>
                  <a:srgbClr val="0075C4"/>
                </a:solidFill>
              </a:rPr>
              <a:t> </a:t>
            </a:r>
            <a:r>
              <a:rPr lang="en" sz="2400" i="1" dirty="0" smtClean="0"/>
              <a:t>AI for Career Growth</a:t>
            </a:r>
            <a:endParaRPr sz="2400" i="1" dirty="0"/>
          </a:p>
        </p:txBody>
      </p:sp>
      <p:pic>
        <p:nvPicPr>
          <p:cNvPr id="73" name="Google Shape;7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"/>
          <p:cNvSpPr txBox="1">
            <a:spLocks noGrp="1"/>
          </p:cNvSpPr>
          <p:nvPr>
            <p:ph type="title"/>
          </p:nvPr>
        </p:nvSpPr>
        <p:spPr>
          <a:xfrm>
            <a:off x="0" y="650575"/>
            <a:ext cx="4535600" cy="698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000" dirty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sz="3000" dirty="0">
              <a:solidFill>
                <a:srgbClr val="0098FF"/>
              </a:solidFill>
            </a:endParaRPr>
          </a:p>
        </p:txBody>
      </p:sp>
      <p:sp>
        <p:nvSpPr>
          <p:cNvPr id="79" name="Google Shape;79;p3"/>
          <p:cNvSpPr txBox="1">
            <a:spLocks noGrp="1"/>
          </p:cNvSpPr>
          <p:nvPr>
            <p:ph type="body" idx="1"/>
          </p:nvPr>
        </p:nvSpPr>
        <p:spPr>
          <a:xfrm>
            <a:off x="0" y="1231900"/>
            <a:ext cx="8580500" cy="3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i="1" dirty="0"/>
              <a:t>Job seekers often face difficulty determining how well their resumes align with job descriptions, while recruiters spend excessive time manually screening applications for relevant skills and </a:t>
            </a:r>
            <a:r>
              <a:rPr lang="en-US" i="1" dirty="0" smtClean="0"/>
              <a:t>experience.</a:t>
            </a:r>
          </a:p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i="1" dirty="0" smtClean="0"/>
              <a:t>This </a:t>
            </a:r>
            <a:r>
              <a:rPr lang="en-US" i="1" dirty="0"/>
              <a:t>traditional process is inefficient, subjective, and prone to human error, leading to missed opportunities for both candidates and </a:t>
            </a:r>
            <a:r>
              <a:rPr lang="en-US" i="1" dirty="0" smtClean="0"/>
              <a:t>employers.</a:t>
            </a:r>
          </a:p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i="1" dirty="0" smtClean="0"/>
              <a:t>There </a:t>
            </a:r>
            <a:r>
              <a:rPr lang="en-US" i="1" dirty="0"/>
              <a:t>is a clear need for an automated and reliable solution that bridges this gap through intelligent analysis. </a:t>
            </a:r>
            <a:endParaRPr lang="en-US" i="1" dirty="0" smtClean="0"/>
          </a:p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i="1" dirty="0" smtClean="0"/>
              <a:t>The </a:t>
            </a:r>
            <a:r>
              <a:rPr lang="en-US" i="1" dirty="0"/>
              <a:t>Resume Analyser addresses this problem by leveraging AI to evaluate resumes against job descriptions, highlighting matching skills, identifying missing keywords, and providing clear improvement </a:t>
            </a:r>
            <a:r>
              <a:rPr lang="en-US" i="1" dirty="0" smtClean="0"/>
              <a:t>suggestions..</a:t>
            </a:r>
            <a:endParaRPr i="1" dirty="0"/>
          </a:p>
        </p:txBody>
      </p:sp>
      <p:pic>
        <p:nvPicPr>
          <p:cNvPr id="80" name="Google Shape;80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0" y="650575"/>
            <a:ext cx="2211500" cy="67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000" dirty="0" smtClean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sz="10800" i="1" dirty="0">
              <a:solidFill>
                <a:srgbClr val="0098FF"/>
              </a:solidFill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0" y="1357267"/>
            <a:ext cx="8725662" cy="331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None/>
            </a:pPr>
            <a:r>
              <a:rPr lang="en-US" dirty="0"/>
              <a:t>The </a:t>
            </a:r>
            <a:r>
              <a:rPr lang="en-US" i="1" dirty="0"/>
              <a:t>Resume Analyser</a:t>
            </a:r>
            <a:r>
              <a:rPr lang="en-US" dirty="0"/>
              <a:t> is an AI-powered agent built on the Agent.ai platform that automatically evaluates the similarity between a candidate’s resume and a job description. It provides an alignment report with matching skills, missing keywords, and suggestions to enhance compatibility with the target role.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b="1" dirty="0"/>
              <a:t>Impact Metrics:</a:t>
            </a:r>
            <a:endParaRPr lang="en-US" dirty="0"/>
          </a:p>
          <a:p>
            <a:pPr marL="568800" lvl="1" indent="-285750" algn="l">
              <a:spcBef>
                <a:spcPts val="0"/>
              </a:spcBef>
              <a:buFont typeface="Roboto" charset="0"/>
              <a:buChar char="→"/>
            </a:pPr>
            <a:r>
              <a:rPr lang="en-US" sz="1800" dirty="0"/>
              <a:t>Reduction in resume screening time (up to 80%)</a:t>
            </a:r>
          </a:p>
          <a:p>
            <a:pPr marL="568800" lvl="1" indent="-285750" algn="l">
              <a:spcBef>
                <a:spcPts val="0"/>
              </a:spcBef>
              <a:buFont typeface="Roboto" charset="0"/>
              <a:buChar char="→"/>
            </a:pPr>
            <a:r>
              <a:rPr lang="en-US" sz="1800" dirty="0"/>
              <a:t>Improved resume–JD relevance score</a:t>
            </a:r>
          </a:p>
          <a:p>
            <a:pPr marL="568800" lvl="1" indent="-285750" algn="l">
              <a:spcBef>
                <a:spcPts val="0"/>
              </a:spcBef>
              <a:buFont typeface="Roboto" charset="0"/>
              <a:buChar char="→"/>
            </a:pPr>
            <a:r>
              <a:rPr lang="en-US" sz="1800" dirty="0"/>
              <a:t>Higher interview shortlisting rates</a:t>
            </a:r>
          </a:p>
          <a:p>
            <a:pPr marL="285750" indent="-285750" algn="l">
              <a:buFont typeface="Wingdings" pitchFamily="2" charset="2"/>
              <a:buChar char="Ø"/>
            </a:pPr>
            <a:r>
              <a:rPr lang="en-US" b="1" dirty="0"/>
              <a:t>Frameworks / Tools / Technology Stack:</a:t>
            </a:r>
            <a:endParaRPr lang="en-US" dirty="0"/>
          </a:p>
          <a:p>
            <a:pPr marL="568800" lvl="1" indent="-285750" algn="l">
              <a:spcBef>
                <a:spcPts val="0"/>
              </a:spcBef>
              <a:buFont typeface="Roboto" charset="0"/>
              <a:buChar char="→"/>
            </a:pPr>
            <a:r>
              <a:rPr lang="en-US" sz="1800" b="1" dirty="0"/>
              <a:t>Platform:</a:t>
            </a:r>
            <a:r>
              <a:rPr lang="en-US" sz="1800" dirty="0"/>
              <a:t> Agent.ai (No-code workflow builder)</a:t>
            </a:r>
          </a:p>
          <a:p>
            <a:pPr marL="0" indent="0" algn="l">
              <a:buNone/>
            </a:pPr>
            <a:endParaRPr lang="en-US" dirty="0">
              <a:latin typeface="Arial"/>
              <a:ea typeface="Arial"/>
              <a:cs typeface="Arial"/>
              <a:sym typeface="Arial"/>
            </a:endParaRPr>
          </a:p>
          <a:p>
            <a:pPr marL="0" indent="0" algn="l"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32984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4"/>
          <p:cNvSpPr txBox="1">
            <a:spLocks noGrp="1"/>
          </p:cNvSpPr>
          <p:nvPr>
            <p:ph type="title"/>
          </p:nvPr>
        </p:nvSpPr>
        <p:spPr>
          <a:xfrm>
            <a:off x="0" y="650575"/>
            <a:ext cx="3760900" cy="673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000" dirty="0" smtClean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SOLUTION </a:t>
            </a:r>
            <a:r>
              <a:rPr lang="en" sz="2800" i="1" dirty="0" smtClean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(Contd.)</a:t>
            </a:r>
            <a:endParaRPr sz="10800" i="1" dirty="0">
              <a:solidFill>
                <a:srgbClr val="0098FF"/>
              </a:solidFill>
            </a:endParaRPr>
          </a:p>
        </p:txBody>
      </p:sp>
      <p:sp>
        <p:nvSpPr>
          <p:cNvPr id="86" name="Google Shape;86;p4"/>
          <p:cNvSpPr txBox="1">
            <a:spLocks noGrp="1"/>
          </p:cNvSpPr>
          <p:nvPr>
            <p:ph type="body" idx="1"/>
          </p:nvPr>
        </p:nvSpPr>
        <p:spPr>
          <a:xfrm>
            <a:off x="0" y="1381331"/>
            <a:ext cx="8725662" cy="359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68800" lvl="1" indent="-285750" algn="l">
              <a:lnSpc>
                <a:spcPct val="114000"/>
              </a:lnSpc>
              <a:spcBef>
                <a:spcPts val="0"/>
              </a:spcBef>
              <a:buFont typeface="Roboto" charset="0"/>
              <a:buChar char="→"/>
            </a:pPr>
            <a:r>
              <a:rPr lang="en-US" sz="1800" b="1" dirty="0"/>
              <a:t>AI Models:</a:t>
            </a:r>
            <a:r>
              <a:rPr lang="en-US" sz="1800" dirty="0"/>
              <a:t> GPT-5 (text reasoning &amp; comparison), Auto model</a:t>
            </a:r>
          </a:p>
          <a:p>
            <a:pPr marL="568800" lvl="1" indent="-285750" algn="l">
              <a:lnSpc>
                <a:spcPct val="114000"/>
              </a:lnSpc>
              <a:spcBef>
                <a:spcPts val="0"/>
              </a:spcBef>
              <a:buFont typeface="Roboto" charset="0"/>
              <a:buChar char="→"/>
            </a:pPr>
            <a:r>
              <a:rPr lang="en-US" sz="1800" b="1" dirty="0"/>
              <a:t>Languages:</a:t>
            </a:r>
            <a:r>
              <a:rPr lang="en-US" sz="1800" dirty="0"/>
              <a:t> Python, JavaScript (in previous projects used in testing)</a:t>
            </a:r>
          </a:p>
          <a:p>
            <a:pPr marL="568800" lvl="1" indent="-285750" algn="l">
              <a:lnSpc>
                <a:spcPct val="114000"/>
              </a:lnSpc>
              <a:spcBef>
                <a:spcPts val="0"/>
              </a:spcBef>
              <a:buFont typeface="Roboto" charset="0"/>
              <a:buChar char="→"/>
            </a:pPr>
            <a:r>
              <a:rPr lang="en-US" sz="1800" b="1" dirty="0"/>
              <a:t>Input Types:</a:t>
            </a:r>
            <a:r>
              <a:rPr lang="en-US" sz="1800" dirty="0"/>
              <a:t> Resume (PDF), Job Description (text input)</a:t>
            </a:r>
          </a:p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b="1" dirty="0"/>
              <a:t>Assumptions / Constraints:</a:t>
            </a:r>
            <a:endParaRPr lang="en-US" dirty="0"/>
          </a:p>
          <a:p>
            <a:pPr marL="568800" lvl="1" indent="-285750" algn="l">
              <a:lnSpc>
                <a:spcPct val="114000"/>
              </a:lnSpc>
              <a:spcBef>
                <a:spcPts val="0"/>
              </a:spcBef>
              <a:buFont typeface="Roboto" charset="0"/>
              <a:buChar char="→"/>
            </a:pPr>
            <a:r>
              <a:rPr lang="en-US" sz="1800" dirty="0"/>
              <a:t>Text-based resumes (not image scans) for accurate parsing</a:t>
            </a:r>
          </a:p>
          <a:p>
            <a:pPr marL="568800" lvl="1" indent="-285750" algn="l">
              <a:lnSpc>
                <a:spcPct val="114000"/>
              </a:lnSpc>
              <a:spcBef>
                <a:spcPts val="0"/>
              </a:spcBef>
              <a:buFont typeface="Roboto" charset="0"/>
              <a:buChar char="→"/>
            </a:pPr>
            <a:r>
              <a:rPr lang="en-US" sz="1800" dirty="0"/>
              <a:t>Works best in English </a:t>
            </a:r>
            <a:r>
              <a:rPr lang="en-US" sz="1800" dirty="0" smtClean="0"/>
              <a:t>language</a:t>
            </a:r>
          </a:p>
          <a:p>
            <a:pPr marL="568800" lvl="1" indent="-285750" algn="l">
              <a:lnSpc>
                <a:spcPct val="114000"/>
              </a:lnSpc>
              <a:spcBef>
                <a:spcPts val="0"/>
              </a:spcBef>
              <a:buFont typeface="Roboto" charset="0"/>
              <a:buChar char="→"/>
            </a:pPr>
            <a:r>
              <a:rPr lang="en-US" sz="1800" dirty="0" smtClean="0"/>
              <a:t>Requires </a:t>
            </a:r>
            <a:r>
              <a:rPr lang="en-US" sz="1800" dirty="0"/>
              <a:t>structured job </a:t>
            </a:r>
            <a:r>
              <a:rPr lang="en-US" sz="1800" dirty="0" smtClean="0"/>
              <a:t>descriptions</a:t>
            </a:r>
          </a:p>
          <a:p>
            <a:pPr marL="285750" indent="-285750" algn="l">
              <a:lnSpc>
                <a:spcPct val="114000"/>
              </a:lnSpc>
              <a:buFont typeface="Wingdings" pitchFamily="2" charset="2"/>
              <a:buChar char="Ø"/>
            </a:pPr>
            <a:r>
              <a:rPr lang="en-US" b="1" dirty="0" smtClean="0"/>
              <a:t>Scalability </a:t>
            </a:r>
            <a:r>
              <a:rPr lang="en-US" b="1" dirty="0"/>
              <a:t>&amp; </a:t>
            </a:r>
            <a:r>
              <a:rPr lang="en-US" b="1" dirty="0" smtClean="0"/>
              <a:t>Usability:</a:t>
            </a:r>
            <a:endParaRPr lang="en-US" dirty="0" smtClean="0"/>
          </a:p>
          <a:p>
            <a:pPr marL="568800" lvl="1" indent="-285750" algn="l">
              <a:lnSpc>
                <a:spcPct val="114000"/>
              </a:lnSpc>
              <a:spcBef>
                <a:spcPts val="0"/>
              </a:spcBef>
              <a:buFont typeface="Roboto" charset="0"/>
              <a:buChar char="→"/>
            </a:pPr>
            <a:r>
              <a:rPr lang="en-US" sz="1800" dirty="0" smtClean="0"/>
              <a:t>Easily </a:t>
            </a:r>
            <a:r>
              <a:rPr lang="en-US" sz="1800" dirty="0"/>
              <a:t>scalable for recruiters, job portals, and universities for career readiness programs. </a:t>
            </a:r>
            <a:endParaRPr lang="en-US" sz="1800" dirty="0" smtClean="0"/>
          </a:p>
          <a:p>
            <a:pPr marL="568800" lvl="1" indent="-285750" algn="l">
              <a:lnSpc>
                <a:spcPct val="114000"/>
              </a:lnSpc>
              <a:spcBef>
                <a:spcPts val="0"/>
              </a:spcBef>
              <a:buFont typeface="Roboto" charset="0"/>
              <a:buChar char="→"/>
            </a:pPr>
            <a:r>
              <a:rPr lang="en-US" sz="1800" dirty="0" smtClean="0"/>
              <a:t>Minimal </a:t>
            </a:r>
            <a:r>
              <a:rPr lang="en-US" sz="1800" dirty="0"/>
              <a:t>setup required—entirely browser-based</a:t>
            </a:r>
            <a:r>
              <a:rPr lang="en-US" dirty="0"/>
              <a:t>.</a:t>
            </a:r>
          </a:p>
          <a:p>
            <a:pPr marL="0" indent="0" algn="l">
              <a:buNone/>
            </a:pPr>
            <a:endParaRPr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7" name="Google Shape;8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78637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>
            <a:spLocks noGrp="1"/>
          </p:cNvSpPr>
          <p:nvPr>
            <p:ph type="title" idx="4294967295"/>
          </p:nvPr>
        </p:nvSpPr>
        <p:spPr>
          <a:xfrm>
            <a:off x="0" y="650574"/>
            <a:ext cx="3354000" cy="59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 dirty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dirty="0">
              <a:solidFill>
                <a:srgbClr val="0098FF"/>
              </a:solidFill>
            </a:endParaRPr>
          </a:p>
        </p:txBody>
      </p:sp>
      <p:sp>
        <p:nvSpPr>
          <p:cNvPr id="94" name="Google Shape;94;p5"/>
          <p:cNvSpPr txBox="1">
            <a:spLocks noGrp="1"/>
          </p:cNvSpPr>
          <p:nvPr>
            <p:ph type="subTitle" idx="4294967295"/>
          </p:nvPr>
        </p:nvSpPr>
        <p:spPr>
          <a:xfrm>
            <a:off x="0" y="1259175"/>
            <a:ext cx="5593218" cy="3045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IN" sz="2000" b="1" dirty="0" smtClean="0"/>
              <a:t>Workflow </a:t>
            </a:r>
            <a:r>
              <a:rPr lang="en-IN" sz="2000" b="1" dirty="0"/>
              <a:t>Diagram </a:t>
            </a:r>
            <a:endParaRPr lang="en-IN" sz="2000" b="1" dirty="0" smtClean="0"/>
          </a:p>
          <a:p>
            <a:pPr marL="285750" indent="-285750"/>
            <a:r>
              <a:rPr lang="en-IN" dirty="0" smtClean="0"/>
              <a:t>User </a:t>
            </a:r>
            <a:r>
              <a:rPr lang="en-IN" dirty="0"/>
              <a:t>uploads resume (PDF</a:t>
            </a:r>
            <a:r>
              <a:rPr lang="en-IN" dirty="0" smtClean="0"/>
              <a:t>).</a:t>
            </a:r>
          </a:p>
          <a:p>
            <a:pPr marL="285750" indent="-285750"/>
            <a:r>
              <a:rPr lang="en-IN" dirty="0" smtClean="0"/>
              <a:t>User </a:t>
            </a:r>
            <a:r>
              <a:rPr lang="en-IN" dirty="0"/>
              <a:t>pastes job description </a:t>
            </a:r>
            <a:r>
              <a:rPr lang="en-IN" dirty="0" smtClean="0"/>
              <a:t>text.</a:t>
            </a:r>
          </a:p>
          <a:p>
            <a:pPr marL="285750" indent="-285750"/>
            <a:r>
              <a:rPr lang="en-IN" dirty="0" smtClean="0"/>
              <a:t>Agent </a:t>
            </a:r>
            <a:r>
              <a:rPr lang="en-IN" dirty="0"/>
              <a:t>combines inputs </a:t>
            </a:r>
            <a:r>
              <a:rPr lang="en-IN" dirty="0" smtClean="0"/>
              <a:t>and </a:t>
            </a:r>
            <a:r>
              <a:rPr lang="en-IN" dirty="0"/>
              <a:t>creates formatted </a:t>
            </a:r>
            <a:r>
              <a:rPr lang="en-IN" dirty="0" smtClean="0"/>
              <a:t>dataset.</a:t>
            </a:r>
          </a:p>
          <a:p>
            <a:pPr marL="285750" indent="-285750"/>
            <a:r>
              <a:rPr lang="en-IN" dirty="0" smtClean="0"/>
              <a:t>GPT-5 analyses </a:t>
            </a:r>
            <a:r>
              <a:rPr lang="en-IN" dirty="0"/>
              <a:t>alignment and generates structured </a:t>
            </a:r>
            <a:r>
              <a:rPr lang="en-IN" dirty="0" smtClean="0"/>
              <a:t>report.</a:t>
            </a:r>
          </a:p>
          <a:p>
            <a:pPr marL="285750" indent="-285750"/>
            <a:r>
              <a:rPr lang="en-IN" dirty="0" smtClean="0"/>
              <a:t>Output </a:t>
            </a:r>
            <a:r>
              <a:rPr lang="en-IN" dirty="0"/>
              <a:t>displayed with </a:t>
            </a:r>
            <a:r>
              <a:rPr lang="en-IN" dirty="0" smtClean="0"/>
              <a:t>matching and missing skills, </a:t>
            </a:r>
            <a:r>
              <a:rPr lang="en-IN" dirty="0"/>
              <a:t>and improvement suggestions.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endParaRPr sz="20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endParaRPr sz="20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endParaRPr sz="2000" b="0" i="1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endParaRPr sz="1800" b="0" i="1" u="none" strike="noStrike" cap="none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Box 1"/>
          <p:cNvSpPr txBox="1"/>
          <p:nvPr/>
        </p:nvSpPr>
        <p:spPr>
          <a:xfrm>
            <a:off x="6581325" y="433301"/>
            <a:ext cx="8509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User</a:t>
            </a:r>
            <a:endParaRPr lang="en-IN" sz="16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195498" y="1123642"/>
            <a:ext cx="1622559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Upload Resume</a:t>
            </a:r>
            <a:endParaRPr lang="en-IN" sz="16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02987" y="1772378"/>
            <a:ext cx="95090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Input JD</a:t>
            </a:r>
            <a:endParaRPr lang="en-IN" sz="16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3588" y="2454253"/>
            <a:ext cx="147989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Roboto" charset="0"/>
                <a:ea typeface="Roboto" charset="0"/>
              </a:rPr>
              <a:t>C</a:t>
            </a:r>
            <a:r>
              <a:rPr lang="en-IN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ombine Data</a:t>
            </a:r>
            <a:endParaRPr lang="en-IN" sz="16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175460" y="3143387"/>
            <a:ext cx="156805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GPT-5 Analysis</a:t>
            </a:r>
            <a:endParaRPr lang="en-IN" sz="16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149010" y="3802238"/>
            <a:ext cx="166904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Generate Report</a:t>
            </a:r>
            <a:endParaRPr lang="en-IN" sz="16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223550" y="4456828"/>
            <a:ext cx="1519967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6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Display Output</a:t>
            </a:r>
            <a:endParaRPr lang="en-IN" sz="16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cxnSp>
        <p:nvCxnSpPr>
          <p:cNvPr id="10" name="Straight Arrow Connector 9"/>
          <p:cNvCxnSpPr>
            <a:stCxn id="7" idx="2"/>
            <a:endCxn id="13" idx="0"/>
          </p:cNvCxnSpPr>
          <p:nvPr/>
        </p:nvCxnSpPr>
        <p:spPr>
          <a:xfrm>
            <a:off x="6983534" y="4140792"/>
            <a:ext cx="1" cy="326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278774" y="4467605"/>
            <a:ext cx="140952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Rectangle 28"/>
          <p:cNvSpPr/>
          <p:nvPr/>
        </p:nvSpPr>
        <p:spPr>
          <a:xfrm>
            <a:off x="6223550" y="3797652"/>
            <a:ext cx="1519968" cy="3431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9" name="Rectangle 38"/>
          <p:cNvSpPr/>
          <p:nvPr/>
        </p:nvSpPr>
        <p:spPr>
          <a:xfrm>
            <a:off x="6248756" y="1110696"/>
            <a:ext cx="151604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Rectangle 39"/>
          <p:cNvSpPr/>
          <p:nvPr/>
        </p:nvSpPr>
        <p:spPr>
          <a:xfrm>
            <a:off x="6285239" y="3132285"/>
            <a:ext cx="140952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1" name="Rectangle 40"/>
          <p:cNvSpPr/>
          <p:nvPr/>
        </p:nvSpPr>
        <p:spPr>
          <a:xfrm>
            <a:off x="6285239" y="2455809"/>
            <a:ext cx="1409521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4" name="Straight Arrow Connector 43"/>
          <p:cNvCxnSpPr/>
          <p:nvPr/>
        </p:nvCxnSpPr>
        <p:spPr>
          <a:xfrm>
            <a:off x="6978438" y="3470839"/>
            <a:ext cx="1" cy="326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/>
          <p:nvPr/>
        </p:nvCxnSpPr>
        <p:spPr>
          <a:xfrm>
            <a:off x="6983534" y="2815828"/>
            <a:ext cx="1" cy="326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514549" y="1771763"/>
            <a:ext cx="95090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6989999" y="2109858"/>
            <a:ext cx="1" cy="326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>
            <a:off x="6989999" y="1439695"/>
            <a:ext cx="1" cy="326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6531326" y="439458"/>
            <a:ext cx="950902" cy="33855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52" name="Straight Arrow Connector 51"/>
          <p:cNvCxnSpPr/>
          <p:nvPr/>
        </p:nvCxnSpPr>
        <p:spPr>
          <a:xfrm>
            <a:off x="6989999" y="778012"/>
            <a:ext cx="1" cy="326813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5"/>
          <p:cNvSpPr txBox="1">
            <a:spLocks noGrp="1"/>
          </p:cNvSpPr>
          <p:nvPr>
            <p:ph type="title" idx="4294967295"/>
          </p:nvPr>
        </p:nvSpPr>
        <p:spPr>
          <a:xfrm>
            <a:off x="0" y="650574"/>
            <a:ext cx="4643385" cy="591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" dirty="0" smtClean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METHODOLOGY </a:t>
            </a:r>
            <a:r>
              <a:rPr lang="en" sz="2800" i="1" dirty="0" smtClean="0">
                <a:solidFill>
                  <a:srgbClr val="0098FF"/>
                </a:solidFill>
                <a:latin typeface="Arial"/>
                <a:ea typeface="Arial"/>
                <a:cs typeface="Arial"/>
                <a:sym typeface="Arial"/>
              </a:rPr>
              <a:t>(Cont.d)</a:t>
            </a:r>
            <a:endParaRPr sz="2800" i="1" dirty="0">
              <a:solidFill>
                <a:srgbClr val="0098FF"/>
              </a:solidFill>
            </a:endParaRPr>
          </a:p>
        </p:txBody>
      </p:sp>
      <p:sp>
        <p:nvSpPr>
          <p:cNvPr id="94" name="Google Shape;94;p5"/>
          <p:cNvSpPr txBox="1">
            <a:spLocks noGrp="1"/>
          </p:cNvSpPr>
          <p:nvPr>
            <p:ph type="subTitle" idx="4294967295"/>
          </p:nvPr>
        </p:nvSpPr>
        <p:spPr>
          <a:xfrm>
            <a:off x="0" y="1259175"/>
            <a:ext cx="8623150" cy="2061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None/>
            </a:pPr>
            <a:r>
              <a:rPr lang="en-IN" sz="2000" b="1" dirty="0"/>
              <a:t>Core Concept &amp; </a:t>
            </a:r>
            <a:r>
              <a:rPr lang="en-IN" sz="2000" b="1" dirty="0" smtClean="0"/>
              <a:t>Components</a:t>
            </a:r>
            <a:endParaRPr lang="en-IN" sz="2000" dirty="0"/>
          </a:p>
          <a:p>
            <a:pPr marL="284400" indent="-284400">
              <a:buFont typeface="Wingdings" pitchFamily="2" charset="2"/>
              <a:buChar char="Ø"/>
            </a:pPr>
            <a:r>
              <a:rPr lang="en-IN" b="1" dirty="0"/>
              <a:t>Concept:</a:t>
            </a:r>
            <a:r>
              <a:rPr lang="en-IN" dirty="0"/>
              <a:t> AI-assisted career optimization</a:t>
            </a:r>
          </a:p>
          <a:p>
            <a:pPr marL="284400" indent="-284400">
              <a:buFont typeface="Wingdings" pitchFamily="2" charset="2"/>
              <a:buChar char="Ø"/>
            </a:pPr>
            <a:r>
              <a:rPr lang="en-IN" b="1" dirty="0"/>
              <a:t>Principles:</a:t>
            </a:r>
            <a:r>
              <a:rPr lang="en-IN" dirty="0"/>
              <a:t> Natural Language Understanding (NLP), semantic similarity detection, keyword extraction</a:t>
            </a:r>
          </a:p>
          <a:p>
            <a:pPr marL="284400" indent="-284400">
              <a:buFont typeface="Wingdings" pitchFamily="2" charset="2"/>
              <a:buChar char="Ø"/>
            </a:pPr>
            <a:r>
              <a:rPr lang="en-IN" b="1" dirty="0"/>
              <a:t>Elements:</a:t>
            </a:r>
            <a:r>
              <a:rPr lang="en-IN" dirty="0"/>
              <a:t> Resume parser, job description analyzer, comparison engine, output renderer</a:t>
            </a:r>
          </a:p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Roboto"/>
              <a:buNone/>
            </a:pPr>
            <a:endParaRPr b="0" i="1" u="none" strike="noStrike" cap="none" dirty="0">
              <a:solidFill>
                <a:schemeClr val="dk1"/>
              </a:solidFill>
              <a:latin typeface="Roboto" charset="0"/>
              <a:ea typeface="Roboto" charset="0"/>
              <a:sym typeface="Roboto"/>
            </a:endParaRPr>
          </a:p>
        </p:txBody>
      </p:sp>
      <p:pic>
        <p:nvPicPr>
          <p:cNvPr id="96" name="Google Shape;9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4005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3372e3e9c_0_0"/>
          <p:cNvSpPr txBox="1">
            <a:spLocks noGrp="1"/>
          </p:cNvSpPr>
          <p:nvPr>
            <p:ph type="title"/>
          </p:nvPr>
        </p:nvSpPr>
        <p:spPr>
          <a:xfrm>
            <a:off x="2195763" y="1213616"/>
            <a:ext cx="4752475" cy="6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WORKING </a:t>
            </a:r>
            <a:r>
              <a:rPr lang="en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PROTOTYPE</a:t>
            </a:r>
            <a:endParaRPr sz="3200" dirty="0">
              <a:solidFill>
                <a:schemeClr val="dk1"/>
              </a:solidFill>
            </a:endParaRPr>
          </a:p>
        </p:txBody>
      </p:sp>
      <p:sp>
        <p:nvSpPr>
          <p:cNvPr id="102" name="Google Shape;102;g83372e3e9c_0_0"/>
          <p:cNvSpPr txBox="1">
            <a:spLocks noGrp="1"/>
          </p:cNvSpPr>
          <p:nvPr>
            <p:ph type="body" idx="1"/>
          </p:nvPr>
        </p:nvSpPr>
        <p:spPr>
          <a:xfrm>
            <a:off x="1840831" y="2138765"/>
            <a:ext cx="5462338" cy="1193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buNone/>
            </a:pPr>
            <a:r>
              <a:rPr lang="en-IN" sz="3000" i="1" dirty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Live </a:t>
            </a:r>
            <a:r>
              <a:rPr lang="en-IN" sz="3000" i="1" dirty="0" smtClean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Agent: </a:t>
            </a:r>
            <a:r>
              <a:rPr lang="en-IN" sz="3000" i="1" dirty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IN" sz="3000" i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[View Live Agent]</a:t>
            </a:r>
            <a:endParaRPr lang="en-IN" sz="3000" i="1" dirty="0" smtClean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>
              <a:buNone/>
            </a:pPr>
            <a:r>
              <a:rPr lang="en-IN" sz="3000" i="1" dirty="0" smtClean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Demo </a:t>
            </a:r>
            <a:r>
              <a:rPr lang="en-IN" sz="3000" i="1" dirty="0" smtClean="0">
                <a:solidFill>
                  <a:srgbClr val="3D85C6"/>
                </a:solidFill>
                <a:latin typeface="Arial"/>
                <a:ea typeface="Arial"/>
                <a:cs typeface="Arial"/>
                <a:sym typeface="Arial"/>
              </a:rPr>
              <a:t>:-  </a:t>
            </a:r>
            <a:r>
              <a:rPr lang="en-IN" sz="3000" i="1" dirty="0" smtClean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[View Video Demo]</a:t>
            </a:r>
            <a:endParaRPr sz="3000" i="1" dirty="0">
              <a:solidFill>
                <a:schemeClr val="tx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g83372e3e9c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3372e3e9c_2_0"/>
          <p:cNvSpPr txBox="1">
            <a:spLocks noGrp="1"/>
          </p:cNvSpPr>
          <p:nvPr>
            <p:ph type="title"/>
          </p:nvPr>
        </p:nvSpPr>
        <p:spPr>
          <a:xfrm>
            <a:off x="3418919" y="134128"/>
            <a:ext cx="2549386" cy="51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Attachments</a:t>
            </a:r>
            <a:endParaRPr sz="3200" dirty="0">
              <a:solidFill>
                <a:schemeClr val="dk1"/>
              </a:solidFill>
            </a:endParaRPr>
          </a:p>
        </p:txBody>
      </p:sp>
      <p:pic>
        <p:nvPicPr>
          <p:cNvPr id="110" name="Google Shape;110;g83372e3e9c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4989" y="1002813"/>
            <a:ext cx="6994022" cy="3820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13121" y="633481"/>
            <a:ext cx="3717758" cy="386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IN" sz="18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Inputs (Resume &amp; Job Description)</a:t>
            </a:r>
            <a:endParaRPr lang="en-IN" sz="18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3372e3e9c_2_0"/>
          <p:cNvSpPr txBox="1">
            <a:spLocks noGrp="1"/>
          </p:cNvSpPr>
          <p:nvPr>
            <p:ph type="title"/>
          </p:nvPr>
        </p:nvSpPr>
        <p:spPr>
          <a:xfrm>
            <a:off x="2503224" y="58584"/>
            <a:ext cx="4137553" cy="51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Attachments (</a:t>
            </a:r>
            <a:r>
              <a:rPr lang="en" sz="3000" i="1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Contd.)</a:t>
            </a:r>
            <a:endParaRPr sz="3200" dirty="0">
              <a:solidFill>
                <a:schemeClr val="dk1"/>
              </a:solidFill>
            </a:endParaRPr>
          </a:p>
        </p:txBody>
      </p:sp>
      <p:pic>
        <p:nvPicPr>
          <p:cNvPr id="110" name="Google Shape;110;g83372e3e9c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463665" y="629288"/>
            <a:ext cx="4216670" cy="40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IN" sz="18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Outputs (Resume Alignment Summary)</a:t>
            </a:r>
            <a:endParaRPr lang="en-IN" sz="18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454" y="1100410"/>
            <a:ext cx="841309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2994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14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3372e3e9c_2_0"/>
          <p:cNvSpPr txBox="1">
            <a:spLocks noGrp="1"/>
          </p:cNvSpPr>
          <p:nvPr>
            <p:ph type="title"/>
          </p:nvPr>
        </p:nvSpPr>
        <p:spPr>
          <a:xfrm>
            <a:off x="2503224" y="58584"/>
            <a:ext cx="4137553" cy="516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SzPts val="13000"/>
              <a:buNone/>
            </a:pPr>
            <a:r>
              <a:rPr lang="en" sz="3200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Attachments (</a:t>
            </a:r>
            <a:r>
              <a:rPr lang="en" sz="3000" i="1" dirty="0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Contd.)</a:t>
            </a:r>
            <a:endParaRPr sz="3200" dirty="0">
              <a:solidFill>
                <a:schemeClr val="dk1"/>
              </a:solidFill>
            </a:endParaRPr>
          </a:p>
        </p:txBody>
      </p:sp>
      <p:pic>
        <p:nvPicPr>
          <p:cNvPr id="110" name="Google Shape;110;g83372e3e9c_2_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89825" y="178900"/>
            <a:ext cx="471675" cy="4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645110" y="629287"/>
            <a:ext cx="3853780" cy="4081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14000"/>
              </a:lnSpc>
            </a:pPr>
            <a:r>
              <a:rPr lang="en-IN" sz="1800" dirty="0" smtClean="0">
                <a:solidFill>
                  <a:schemeClr val="tx1"/>
                </a:solidFill>
                <a:latin typeface="Roboto" charset="0"/>
                <a:ea typeface="Roboto" charset="0"/>
              </a:rPr>
              <a:t>Output (Improvement Suggestions)</a:t>
            </a:r>
            <a:endParaRPr lang="en-IN" sz="1800" dirty="0">
              <a:solidFill>
                <a:schemeClr val="tx1"/>
              </a:solidFill>
              <a:latin typeface="Roboto" charset="0"/>
              <a:ea typeface="Roboto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026" y="1197640"/>
            <a:ext cx="8179948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938279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</TotalTime>
  <Words>440</Words>
  <Application>Microsoft Office PowerPoint</Application>
  <PresentationFormat>On-screen Show (16:9)</PresentationFormat>
  <Paragraphs>60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Wingdings</vt:lpstr>
      <vt:lpstr>Calibri</vt:lpstr>
      <vt:lpstr>Roboto Slab</vt:lpstr>
      <vt:lpstr>Roboto</vt:lpstr>
      <vt:lpstr>Marina</vt:lpstr>
      <vt:lpstr>PowerPoint Presentation</vt:lpstr>
      <vt:lpstr>TEAM NAME and MEMBER DETAILS:</vt:lpstr>
      <vt:lpstr>PROBLEM STATEMENT</vt:lpstr>
      <vt:lpstr>SOLUTION</vt:lpstr>
      <vt:lpstr>SOLUTION (Contd.)</vt:lpstr>
      <vt:lpstr>METHODOLOGY</vt:lpstr>
      <vt:lpstr>METHODOLOGY (Cont.d)</vt:lpstr>
      <vt:lpstr>WORKING PROTOTYPE</vt:lpstr>
      <vt:lpstr>Attachments</vt:lpstr>
      <vt:lpstr>Attachments (Contd.)</vt:lpstr>
      <vt:lpstr>Attachments (Contd.)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Afreen</cp:lastModifiedBy>
  <cp:revision>9</cp:revision>
  <dcterms:modified xsi:type="dcterms:W3CDTF">2025-11-12T09:35:39Z</dcterms:modified>
</cp:coreProperties>
</file>